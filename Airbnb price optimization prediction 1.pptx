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7"/>
  </p:notesMasterIdLst>
  <p:handoutMasterIdLst>
    <p:handoutMasterId r:id="rId18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 rtl="0">
      <a:defRPr lang="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15856A-D29D-4B82-4794-1F77DE819DDE}" v="1" dt="2026-04-21T08:39:54.278"/>
    <p1510:client id="{0BAEF486-6CB5-ACA5-8F0B-3011A215D27B}" v="4" dt="2026-04-21T10:21:03.985"/>
    <p1510:client id="{CD6CC8DA-B99C-ACA7-7810-446B4376E9DD}" v="1" dt="2026-04-21T11:45:04.867"/>
    <p1510:client id="{FACEB4CF-2358-0D2B-6EE7-85FB49139530}" v="1" dt="2026-04-20T20:57:03.7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f8dd01b8-7276-4ace-aa9d-5767f0f4a5af::" providerId="AD" clId="Web-{CD6CC8DA-B99C-ACA7-7810-446B4376E9DD}"/>
    <pc:docChg chg="delSld">
      <pc:chgData name="Guest User" userId="S::urn:spo:tenantanon#f8dd01b8-7276-4ace-aa9d-5767f0f4a5af::" providerId="AD" clId="Web-{CD6CC8DA-B99C-ACA7-7810-446B4376E9DD}" dt="2026-04-21T11:45:04.867" v="0"/>
      <pc:docMkLst>
        <pc:docMk/>
      </pc:docMkLst>
      <pc:sldChg chg="del">
        <pc:chgData name="Guest User" userId="S::urn:spo:tenantanon#f8dd01b8-7276-4ace-aa9d-5767f0f4a5af::" providerId="AD" clId="Web-{CD6CC8DA-B99C-ACA7-7810-446B4376E9DD}" dt="2026-04-21T11:45:04.867" v="0"/>
        <pc:sldMkLst>
          <pc:docMk/>
          <pc:sldMk cId="1334402292" sldId="273"/>
        </pc:sldMkLst>
      </pc:sldChg>
    </pc:docChg>
  </pc:docChgLst>
  <pc:docChgLst>
    <pc:chgData name="Guest User" userId="S::urn:spo:tenantanon#f8dd01b8-7276-4ace-aa9d-5767f0f4a5af::" providerId="AD" clId="Web-{0BAEF486-6CB5-ACA5-8F0B-3011A215D27B}"/>
    <pc:docChg chg="addSld delSld modSld">
      <pc:chgData name="Guest User" userId="S::urn:spo:tenantanon#f8dd01b8-7276-4ace-aa9d-5767f0f4a5af::" providerId="AD" clId="Web-{0BAEF486-6CB5-ACA5-8F0B-3011A215D27B}" dt="2026-04-21T10:21:03.985" v="3"/>
      <pc:docMkLst>
        <pc:docMk/>
      </pc:docMkLst>
      <pc:sldChg chg="modSp">
        <pc:chgData name="Guest User" userId="S::urn:spo:tenantanon#f8dd01b8-7276-4ace-aa9d-5767f0f4a5af::" providerId="AD" clId="Web-{0BAEF486-6CB5-ACA5-8F0B-3011A215D27B}" dt="2026-04-21T02:50:06.060" v="0" actId="20577"/>
        <pc:sldMkLst>
          <pc:docMk/>
          <pc:sldMk cId="3406184519" sldId="260"/>
        </pc:sldMkLst>
        <pc:spChg chg="mod">
          <ac:chgData name="Guest User" userId="S::urn:spo:tenantanon#f8dd01b8-7276-4ace-aa9d-5767f0f4a5af::" providerId="AD" clId="Web-{0BAEF486-6CB5-ACA5-8F0B-3011A215D27B}" dt="2026-04-21T02:50:06.060" v="0" actId="20577"/>
          <ac:spMkLst>
            <pc:docMk/>
            <pc:sldMk cId="3406184519" sldId="260"/>
            <ac:spMk id="2" creationId="{ED64712B-33AD-30A7-916B-F9153FC5C0E5}"/>
          </ac:spMkLst>
        </pc:spChg>
      </pc:sldChg>
      <pc:sldChg chg="new">
        <pc:chgData name="Guest User" userId="S::urn:spo:tenantanon#f8dd01b8-7276-4ace-aa9d-5767f0f4a5af::" providerId="AD" clId="Web-{0BAEF486-6CB5-ACA5-8F0B-3011A215D27B}" dt="2026-04-21T10:21:03.985" v="3"/>
        <pc:sldMkLst>
          <pc:docMk/>
          <pc:sldMk cId="1334402292" sldId="273"/>
        </pc:sldMkLst>
      </pc:sldChg>
      <pc:sldChg chg="new del">
        <pc:chgData name="Guest User" userId="S::urn:spo:tenantanon#f8dd01b8-7276-4ace-aa9d-5767f0f4a5af::" providerId="AD" clId="Web-{0BAEF486-6CB5-ACA5-8F0B-3011A215D27B}" dt="2026-04-21T10:20:58.938" v="2"/>
        <pc:sldMkLst>
          <pc:docMk/>
          <pc:sldMk cId="2950186393" sldId="273"/>
        </pc:sldMkLst>
      </pc:sldChg>
    </pc:docChg>
  </pc:docChgLst>
  <pc:docChgLst>
    <pc:chgData name="Vendégfelhasználó" userId="S::urn:spo:tenantanon#f8dd01b8-7276-4ace-aa9d-5767f0f4a5af::" providerId="AD" clId="Web-{0915856A-D29D-4B82-4794-1F77DE819DDE}"/>
    <pc:docChg chg="modSld">
      <pc:chgData name="Vendégfelhasználó" userId="S::urn:spo:tenantanon#f8dd01b8-7276-4ace-aa9d-5767f0f4a5af::" providerId="AD" clId="Web-{0915856A-D29D-4B82-4794-1F77DE819DDE}" dt="2026-04-21T08:39:54.278" v="0" actId="20577"/>
      <pc:docMkLst>
        <pc:docMk/>
      </pc:docMkLst>
      <pc:sldChg chg="modSp">
        <pc:chgData name="Vendégfelhasználó" userId="S::urn:spo:tenantanon#f8dd01b8-7276-4ace-aa9d-5767f0f4a5af::" providerId="AD" clId="Web-{0915856A-D29D-4B82-4794-1F77DE819DDE}" dt="2026-04-21T08:39:54.278" v="0" actId="20577"/>
        <pc:sldMkLst>
          <pc:docMk/>
          <pc:sldMk cId="2475805559" sldId="257"/>
        </pc:sldMkLst>
        <pc:spChg chg="mod">
          <ac:chgData name="Vendégfelhasználó" userId="S::urn:spo:tenantanon#f8dd01b8-7276-4ace-aa9d-5767f0f4a5af::" providerId="AD" clId="Web-{0915856A-D29D-4B82-4794-1F77DE819DDE}" dt="2026-04-21T08:39:54.278" v="0" actId="20577"/>
          <ac:spMkLst>
            <pc:docMk/>
            <pc:sldMk cId="2475805559" sldId="257"/>
            <ac:spMk id="3" creationId="{835D6E6B-3353-491C-A3C6-F278D6CED8B3}"/>
          </ac:spMkLst>
        </pc:spChg>
      </pc:sldChg>
    </pc:docChg>
  </pc:docChgLst>
  <pc:docChgLst>
    <pc:chgData name="Vendégfelhasználó" userId="S::urn:spo:tenantanon#f8dd01b8-7276-4ace-aa9d-5767f0f4a5af::" providerId="AD" clId="Web-{FACEB4CF-2358-0D2B-6EE7-85FB49139530}"/>
    <pc:docChg chg="delSld">
      <pc:chgData name="Vendégfelhasználó" userId="S::urn:spo:tenantanon#f8dd01b8-7276-4ace-aa9d-5767f0f4a5af::" providerId="AD" clId="Web-{FACEB4CF-2358-0D2B-6EE7-85FB49139530}" dt="2026-04-20T20:57:03.762" v="0"/>
      <pc:docMkLst>
        <pc:docMk/>
      </pc:docMkLst>
      <pc:sldChg chg="del">
        <pc:chgData name="Vendégfelhasználó" userId="S::urn:spo:tenantanon#f8dd01b8-7276-4ace-aa9d-5767f0f4a5af::" providerId="AD" clId="Web-{FACEB4CF-2358-0D2B-6EE7-85FB49139530}" dt="2026-04-20T20:57:03.762" v="0"/>
        <pc:sldMkLst>
          <pc:docMk/>
          <pc:sldMk cId="1712399921" sldId="26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5DAE62A-D99F-45E8-8F1E-8398A366C415}" type="datetime1">
              <a:rPr lang="hu-HU" smtClean="0"/>
              <a:t>2026. 04. 21.</a:t>
            </a:fld>
            <a:endParaRPr lang="en-US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355339E-A8B3-4E96-B26A-62B98246AA83}" type="datetime1">
              <a:rPr lang="hu-HU" smtClean="0"/>
              <a:t>2026. 04. 21.</a:t>
            </a:fld>
            <a:endParaRPr lang="en-US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hu"/>
              <a:t>Mintaszöveg szerkesztése</a:t>
            </a:r>
            <a:endParaRPr lang="en-US"/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US"/>
              <a:t>Click to edit Master subtitle style</a:t>
            </a:r>
          </a:p>
        </p:txBody>
      </p:sp>
      <p:sp>
        <p:nvSpPr>
          <p:cNvPr id="8" name="Dátum helye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1DBBACF-7D59-4C09-8A13-44D0181A435A}" type="datetime1">
              <a:rPr lang="hu-HU" smtClean="0"/>
              <a:t>2026. 04. 21.</a:t>
            </a:fld>
            <a:endParaRPr lang="en-US"/>
          </a:p>
        </p:txBody>
      </p:sp>
      <p:sp>
        <p:nvSpPr>
          <p:cNvPr id="9" name="Élőláb helye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0" name="Dia számának helye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</a:p>
        </p:txBody>
      </p:sp>
      <p:sp>
        <p:nvSpPr>
          <p:cNvPr id="8" name="Dátum helye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59A803-987E-4B65-903F-6E262CC9AC91}" type="datetime1">
              <a:rPr lang="hu-HU" smtClean="0"/>
              <a:t>2026. 04. 21.</a:t>
            </a:fld>
            <a:endParaRPr lang="en-US"/>
          </a:p>
        </p:txBody>
      </p:sp>
      <p:sp>
        <p:nvSpPr>
          <p:cNvPr id="9" name="Élőláb helye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0" name="Dia számának helye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7C774C0-759F-4206-9FC4-1513DC3B7B44}" type="datetime1">
              <a:rPr lang="hu-HU" smtClean="0"/>
              <a:t>2026. 04. 21.</a:t>
            </a:fld>
            <a:endParaRPr lang="en-US"/>
          </a:p>
        </p:txBody>
      </p:sp>
      <p:sp>
        <p:nvSpPr>
          <p:cNvPr id="9" name="Élőláb helye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0" name="Dia számának helye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ét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E7CE26-0F92-425F-AAE2-085FB7D31021}" type="datetime1">
              <a:rPr lang="hu-HU" smtClean="0"/>
              <a:t>2026. 04. 21.</a:t>
            </a:fld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ím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D990B8C-6534-442D-A364-CFA264F82568}" type="datetime1">
              <a:rPr lang="hu-HU" smtClean="0"/>
              <a:t>2026. 04. 21.</a:t>
            </a:fld>
            <a:endParaRPr lang="en-US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ím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66D24DE-5611-49D0-ACEB-A949B958932D}" type="datetime1">
              <a:rPr lang="hu-HU" smtClean="0"/>
              <a:t>2026. 04. 21.</a:t>
            </a:fld>
            <a:endParaRPr lang="en-US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DEA2F1-37BA-48B0-AC94-A709473EDAF5}" type="datetime1">
              <a:rPr lang="hu-HU" smtClean="0"/>
              <a:t>2026. 04. 21.</a:t>
            </a:fld>
            <a:endParaRPr lang="en-US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églalap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8" name="Dátum helye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8E36CDD0-238B-4F40-902D-B0ABB84BD03D}" type="datetime1">
              <a:rPr lang="hu-HU" smtClean="0"/>
              <a:t>2026. 04. 21.</a:t>
            </a:fld>
            <a:endParaRPr lang="en-US"/>
          </a:p>
        </p:txBody>
      </p:sp>
      <p:sp>
        <p:nvSpPr>
          <p:cNvPr id="10" name="Élőláb helye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11" name="Dia számának helye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Kép helyőrzője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US"/>
              <a:t>Click icon to add picture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050160C-9879-40AE-A525-CEAF600ABAE0}" type="datetime1">
              <a:rPr lang="hu-HU" smtClean="0"/>
              <a:t>2026. 04. 21.</a:t>
            </a:fld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ím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0126248-8C71-4D39-9544-09D417FBF935}" type="datetime1">
              <a:rPr lang="hu-HU" smtClean="0"/>
              <a:t>2026. 04. 21.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átum helye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CE80B1-4D46-471D-BE8B-C33022AF0238}" type="datetime1">
              <a:rPr lang="hu-HU" smtClean="0"/>
              <a:t>2026. 04. 21.</a:t>
            </a:fld>
            <a:endParaRPr lang="en-US"/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3" name="Dia számának helye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hu"/>
              <a:t>Mintacím stílusának szerkesztése</a:t>
            </a:r>
            <a:endParaRPr lang="en-US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3467763-A444-456E-9B90-780721D4CC30}" type="datetime1">
              <a:rPr lang="hu-HU" smtClean="0"/>
              <a:t>2026. 04. 21.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églalap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0" name="Téglalap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1" name="Téglalap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EA1A2D-8817-FDD3-39E4-2DF35A45521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0775950" y="6642100"/>
            <a:ext cx="1377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hu-HU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Classification: GENERAL</a:t>
            </a:r>
          </a:p>
        </p:txBody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joebeachcapital/airbnb/data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Téglalap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pPr rtl="0"/>
            <a:r>
              <a:rPr lang="hu"/>
              <a:t>Airbnb price optimization prediction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/>
          </a:bodyPr>
          <a:lstStyle/>
          <a:p>
            <a:r>
              <a:rPr lang="hu"/>
              <a:t>botond biró, Saahas bondalapati, zsombor tóth											21.04.2026.</a:t>
            </a:r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2" name="Téglalap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4" name="Téglalap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pic>
        <p:nvPicPr>
          <p:cNvPr id="6" name="Kép 5" descr="Egy embléma közelképe&#10;&#10;Automatikusan létrehozott leírás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T</a:t>
            </a:r>
            <a:r>
              <a:rPr lang="hu"/>
              <a:t>he problem with the current system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FC6989B-BC12-4016-3374-B48E0571C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err="1"/>
              <a:t>AirBnB</a:t>
            </a:r>
            <a:r>
              <a:rPr lang="hu-HU"/>
              <a:t> </a:t>
            </a:r>
            <a:r>
              <a:rPr lang="hu-HU" err="1"/>
              <a:t>pricing</a:t>
            </a:r>
            <a:r>
              <a:rPr lang="hu-HU"/>
              <a:t> is </a:t>
            </a:r>
            <a:r>
              <a:rPr lang="hu-HU" err="1"/>
              <a:t>very</a:t>
            </a:r>
            <a:r>
              <a:rPr lang="hu-HU"/>
              <a:t> </a:t>
            </a:r>
            <a:r>
              <a:rPr lang="hu-HU" err="1"/>
              <a:t>inconsistent</a:t>
            </a:r>
            <a:r>
              <a:rPr lang="hu-HU"/>
              <a:t> </a:t>
            </a:r>
            <a:r>
              <a:rPr lang="hu-HU" err="1"/>
              <a:t>across</a:t>
            </a:r>
            <a:r>
              <a:rPr lang="hu-HU"/>
              <a:t> </a:t>
            </a:r>
            <a:r>
              <a:rPr lang="hu-HU" err="1"/>
              <a:t>listings</a:t>
            </a:r>
            <a:endParaRPr lang="hu-HU"/>
          </a:p>
          <a:p>
            <a:r>
              <a:rPr lang="hu-HU" err="1"/>
              <a:t>Hosts</a:t>
            </a:r>
            <a:r>
              <a:rPr lang="hu-HU"/>
              <a:t> </a:t>
            </a:r>
            <a:r>
              <a:rPr lang="hu-HU" err="1"/>
              <a:t>often</a:t>
            </a:r>
            <a:r>
              <a:rPr lang="hu-HU"/>
              <a:t> </a:t>
            </a:r>
            <a:r>
              <a:rPr lang="hu-HU" err="1"/>
              <a:t>underprice</a:t>
            </a:r>
            <a:r>
              <a:rPr lang="hu-HU"/>
              <a:t> </a:t>
            </a:r>
            <a:r>
              <a:rPr lang="hu-HU" err="1"/>
              <a:t>or</a:t>
            </a:r>
            <a:r>
              <a:rPr lang="hu-HU"/>
              <a:t> </a:t>
            </a:r>
            <a:r>
              <a:rPr lang="hu-HU" err="1"/>
              <a:t>overprice</a:t>
            </a:r>
            <a:endParaRPr lang="hu-HU"/>
          </a:p>
          <a:p>
            <a:r>
              <a:rPr lang="hu-HU" err="1"/>
              <a:t>Our</a:t>
            </a:r>
            <a:r>
              <a:rPr lang="hu-HU"/>
              <a:t> </a:t>
            </a:r>
            <a:r>
              <a:rPr lang="hu-HU" err="1"/>
              <a:t>goal</a:t>
            </a:r>
            <a:r>
              <a:rPr lang="hu-HU"/>
              <a:t> is:</a:t>
            </a:r>
          </a:p>
          <a:p>
            <a:pPr lvl="1"/>
            <a:r>
              <a:rPr lang="hu-HU" err="1"/>
              <a:t>to</a:t>
            </a:r>
            <a:r>
              <a:rPr lang="hu-HU"/>
              <a:t> </a:t>
            </a:r>
            <a:r>
              <a:rPr lang="hu-HU" err="1"/>
              <a:t>predict</a:t>
            </a:r>
            <a:r>
              <a:rPr lang="hu-HU"/>
              <a:t> </a:t>
            </a:r>
            <a:r>
              <a:rPr lang="hu-HU" err="1"/>
              <a:t>optimal</a:t>
            </a:r>
            <a:r>
              <a:rPr lang="hu-HU"/>
              <a:t> </a:t>
            </a:r>
            <a:r>
              <a:rPr lang="hu-HU" err="1"/>
              <a:t>listing</a:t>
            </a:r>
            <a:r>
              <a:rPr lang="hu-HU"/>
              <a:t> </a:t>
            </a:r>
            <a:r>
              <a:rPr lang="hu-HU" err="1"/>
              <a:t>prices</a:t>
            </a:r>
            <a:r>
              <a:rPr lang="hu-HU"/>
              <a:t> </a:t>
            </a:r>
            <a:r>
              <a:rPr lang="hu-HU" err="1"/>
              <a:t>based</a:t>
            </a:r>
            <a:r>
              <a:rPr lang="hu-HU"/>
              <a:t> </a:t>
            </a:r>
            <a:r>
              <a:rPr lang="hu-HU" err="1"/>
              <a:t>on</a:t>
            </a:r>
            <a:r>
              <a:rPr lang="hu-HU"/>
              <a:t> </a:t>
            </a:r>
            <a:r>
              <a:rPr lang="hu-HU" err="1"/>
              <a:t>apartment</a:t>
            </a:r>
            <a:r>
              <a:rPr lang="hu-HU"/>
              <a:t> </a:t>
            </a:r>
            <a:r>
              <a:rPr lang="hu-HU" err="1"/>
              <a:t>features</a:t>
            </a:r>
            <a:endParaRPr lang="hu-HU"/>
          </a:p>
          <a:p>
            <a:pPr lvl="1"/>
            <a:r>
              <a:rPr lang="hu-HU" err="1"/>
              <a:t>to</a:t>
            </a:r>
            <a:r>
              <a:rPr lang="hu-HU"/>
              <a:t> </a:t>
            </a:r>
            <a:r>
              <a:rPr lang="hu-HU" err="1"/>
              <a:t>identify</a:t>
            </a:r>
            <a:r>
              <a:rPr lang="hu-HU"/>
              <a:t> </a:t>
            </a:r>
            <a:r>
              <a:rPr lang="hu-HU" err="1"/>
              <a:t>pricing</a:t>
            </a:r>
            <a:r>
              <a:rPr lang="hu-HU"/>
              <a:t> </a:t>
            </a:r>
            <a:r>
              <a:rPr lang="hu-HU" err="1"/>
              <a:t>inefficiencies</a:t>
            </a:r>
            <a:endParaRPr lang="hu-HU"/>
          </a:p>
          <a:p>
            <a:pPr lvl="1"/>
            <a:r>
              <a:rPr lang="hu-HU" err="1"/>
              <a:t>to</a:t>
            </a:r>
            <a:r>
              <a:rPr lang="hu-HU"/>
              <a:t> </a:t>
            </a:r>
            <a:r>
              <a:rPr lang="hu-HU" err="1"/>
              <a:t>estimate</a:t>
            </a:r>
            <a:r>
              <a:rPr lang="hu-HU"/>
              <a:t> </a:t>
            </a:r>
            <a:r>
              <a:rPr lang="hu-HU" err="1"/>
              <a:t>revenue</a:t>
            </a:r>
            <a:r>
              <a:rPr lang="hu-HU"/>
              <a:t> </a:t>
            </a:r>
            <a:r>
              <a:rPr lang="hu-HU" err="1"/>
              <a:t>impact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26EB2-55F5-F064-F779-C18F856F8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D16122-017B-658B-EF52-806BAF445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/>
          <a:p>
            <a:pPr rtl="0"/>
            <a:r>
              <a:rPr lang="hu-HU" err="1"/>
              <a:t>Dataset</a:t>
            </a:r>
            <a:r>
              <a:rPr lang="hu-HU"/>
              <a:t> </a:t>
            </a:r>
            <a:r>
              <a:rPr lang="hu-HU" err="1"/>
              <a:t>overview</a:t>
            </a:r>
            <a:endParaRPr lang="h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A20C7C-D78F-E3D3-A8C7-F70249A20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17" y="702778"/>
            <a:ext cx="11290859" cy="3528392"/>
          </a:xfrm>
          <a:prstGeom prst="rect">
            <a:avLst/>
          </a:prstGeom>
          <a:noFill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E16A96-D72C-7943-8BD3-60E7E50D64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/>
          <a:p>
            <a:r>
              <a:rPr lang="hu-HU" err="1"/>
              <a:t>Source</a:t>
            </a:r>
            <a:r>
              <a:rPr lang="hu-HU"/>
              <a:t>: </a:t>
            </a:r>
            <a:r>
              <a:rPr lang="hu-HU">
                <a:hlinkClick r:id="rId3"/>
              </a:rPr>
              <a:t>https://www.kaggle.com/datasets/joebeachcapital/airbnb/data</a:t>
            </a:r>
            <a:endParaRPr lang="hu-HU"/>
          </a:p>
          <a:p>
            <a:r>
              <a:rPr lang="hu-HU"/>
              <a:t>Key </a:t>
            </a:r>
            <a:r>
              <a:rPr lang="hu-HU" err="1"/>
              <a:t>variables</a:t>
            </a:r>
            <a:r>
              <a:rPr lang="hu-HU"/>
              <a:t>: </a:t>
            </a:r>
            <a:r>
              <a:rPr lang="hu-HU" err="1"/>
              <a:t>price</a:t>
            </a:r>
            <a:r>
              <a:rPr lang="hu-HU"/>
              <a:t>, </a:t>
            </a:r>
            <a:r>
              <a:rPr lang="hu-HU" err="1"/>
              <a:t>location</a:t>
            </a:r>
            <a:r>
              <a:rPr lang="hu-HU"/>
              <a:t>, </a:t>
            </a:r>
            <a:r>
              <a:rPr lang="hu-HU" err="1"/>
              <a:t>property</a:t>
            </a:r>
            <a:r>
              <a:rPr lang="hu-HU"/>
              <a:t> </a:t>
            </a:r>
            <a:r>
              <a:rPr lang="hu-HU" err="1"/>
              <a:t>details</a:t>
            </a:r>
            <a:r>
              <a:rPr lang="hu-HU"/>
              <a:t> </a:t>
            </a:r>
            <a:r>
              <a:rPr lang="hu-HU" err="1"/>
              <a:t>such</a:t>
            </a:r>
            <a:r>
              <a:rPr lang="hu-HU"/>
              <a:t> </a:t>
            </a:r>
            <a:r>
              <a:rPr lang="hu-HU" err="1"/>
              <a:t>as</a:t>
            </a:r>
            <a:r>
              <a:rPr lang="hu-HU"/>
              <a:t> no. of </a:t>
            </a:r>
            <a:r>
              <a:rPr lang="hu-HU" err="1"/>
              <a:t>beds</a:t>
            </a:r>
            <a:r>
              <a:rPr lang="hu-HU"/>
              <a:t>, </a:t>
            </a:r>
            <a:r>
              <a:rPr lang="hu-HU" err="1"/>
              <a:t>bathrooms</a:t>
            </a:r>
            <a:r>
              <a:rPr lang="hu-HU"/>
              <a:t>, etc., </a:t>
            </a:r>
            <a:r>
              <a:rPr lang="hu-HU" err="1"/>
              <a:t>reviews</a:t>
            </a:r>
            <a:r>
              <a:rPr lang="hu-HU"/>
              <a:t> and </a:t>
            </a:r>
            <a:r>
              <a:rPr lang="hu-HU" err="1"/>
              <a:t>amenities</a:t>
            </a:r>
            <a:endParaRPr lang="hu-HU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CF0646D3-23DD-C73B-B2C6-EC14AD9F5F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E050160C-9879-40AE-A525-CEAF600ABAE0}" type="datetime1">
              <a:rPr lang="hu-HU" smtClean="0"/>
              <a:pPr rtl="0">
                <a:spcAft>
                  <a:spcPts val="600"/>
                </a:spcAft>
              </a:pPr>
              <a:t>2026. 04. 21.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069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F940D-608B-9BA3-CD3A-4F61CA45D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D64712B-33AD-30A7-916B-F9153FC5C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Data </a:t>
            </a:r>
            <a:r>
              <a:rPr lang="hu-HU" err="1"/>
              <a:t>cleaning</a:t>
            </a:r>
            <a:r>
              <a:rPr lang="hu-HU"/>
              <a:t> and pre-processing</a:t>
            </a:r>
            <a:endParaRPr lang="hu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06F132-514E-4618-6F0E-FBE8983ED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err="1"/>
              <a:t>Removed</a:t>
            </a:r>
            <a:r>
              <a:rPr lang="hu-HU"/>
              <a:t> </a:t>
            </a:r>
            <a:r>
              <a:rPr lang="hu-HU" err="1"/>
              <a:t>invalid</a:t>
            </a:r>
            <a:r>
              <a:rPr lang="hu-HU"/>
              <a:t> and </a:t>
            </a:r>
            <a:r>
              <a:rPr lang="hu-HU" err="1"/>
              <a:t>missing</a:t>
            </a:r>
            <a:r>
              <a:rPr lang="hu-HU"/>
              <a:t> </a:t>
            </a:r>
            <a:r>
              <a:rPr lang="hu-HU" err="1"/>
              <a:t>data</a:t>
            </a:r>
            <a:r>
              <a:rPr lang="hu-HU"/>
              <a:t> </a:t>
            </a:r>
            <a:r>
              <a:rPr lang="hu-HU" err="1"/>
              <a:t>values</a:t>
            </a:r>
            <a:endParaRPr lang="hu-HU"/>
          </a:p>
          <a:p>
            <a:r>
              <a:rPr lang="hu-HU" err="1"/>
              <a:t>Encoded</a:t>
            </a:r>
            <a:r>
              <a:rPr lang="hu-HU"/>
              <a:t> </a:t>
            </a:r>
            <a:r>
              <a:rPr lang="hu-HU" err="1"/>
              <a:t>categorical</a:t>
            </a:r>
            <a:r>
              <a:rPr lang="hu-HU"/>
              <a:t> </a:t>
            </a:r>
            <a:r>
              <a:rPr lang="hu-HU" err="1"/>
              <a:t>variables</a:t>
            </a:r>
            <a:r>
              <a:rPr lang="hu-HU"/>
              <a:t> </a:t>
            </a:r>
            <a:r>
              <a:rPr lang="hu-HU" err="1"/>
              <a:t>such</a:t>
            </a:r>
            <a:r>
              <a:rPr lang="hu-HU"/>
              <a:t> </a:t>
            </a:r>
            <a:r>
              <a:rPr lang="hu-HU" err="1"/>
              <a:t>as</a:t>
            </a:r>
            <a:r>
              <a:rPr lang="hu-HU"/>
              <a:t> </a:t>
            </a:r>
            <a:r>
              <a:rPr lang="hu-HU" err="1"/>
              <a:t>room</a:t>
            </a:r>
            <a:r>
              <a:rPr lang="hu-HU"/>
              <a:t> </a:t>
            </a:r>
            <a:r>
              <a:rPr lang="hu-HU" err="1"/>
              <a:t>type</a:t>
            </a:r>
            <a:r>
              <a:rPr lang="hu-HU"/>
              <a:t>, city</a:t>
            </a:r>
          </a:p>
          <a:p>
            <a:r>
              <a:rPr lang="hu-HU" err="1"/>
              <a:t>Created</a:t>
            </a:r>
            <a:r>
              <a:rPr lang="hu-HU"/>
              <a:t> </a:t>
            </a:r>
            <a:r>
              <a:rPr lang="hu-HU" err="1"/>
              <a:t>binary</a:t>
            </a:r>
            <a:r>
              <a:rPr lang="hu-HU"/>
              <a:t> </a:t>
            </a:r>
            <a:r>
              <a:rPr lang="hu-HU" err="1"/>
              <a:t>amenity</a:t>
            </a:r>
            <a:r>
              <a:rPr lang="hu-HU"/>
              <a:t> </a:t>
            </a:r>
            <a:r>
              <a:rPr lang="hu-HU" err="1"/>
              <a:t>features</a:t>
            </a:r>
            <a:r>
              <a:rPr lang="hu-HU"/>
              <a:t> (wifi, </a:t>
            </a:r>
            <a:r>
              <a:rPr lang="hu-HU" err="1"/>
              <a:t>kitchen</a:t>
            </a:r>
            <a:r>
              <a:rPr lang="hu-HU"/>
              <a:t>, TV, </a:t>
            </a:r>
            <a:r>
              <a:rPr lang="hu-HU" err="1"/>
              <a:t>pool</a:t>
            </a:r>
            <a:r>
              <a:rPr lang="hu-HU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0618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E3DB5-C874-4621-2F26-50EF30692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9E2663C-B26F-BFFC-8E84-A883EC7D0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err="1"/>
              <a:t>Feature</a:t>
            </a:r>
            <a:r>
              <a:rPr lang="hu-HU"/>
              <a:t> </a:t>
            </a:r>
            <a:r>
              <a:rPr lang="hu-HU" err="1"/>
              <a:t>engineering</a:t>
            </a:r>
            <a:r>
              <a:rPr lang="hu-HU"/>
              <a:t> – </a:t>
            </a:r>
            <a:r>
              <a:rPr lang="hu-HU" err="1"/>
              <a:t>why</a:t>
            </a:r>
            <a:r>
              <a:rPr lang="hu-HU"/>
              <a:t> </a:t>
            </a:r>
            <a:r>
              <a:rPr lang="hu-HU" err="1"/>
              <a:t>our</a:t>
            </a:r>
            <a:r>
              <a:rPr lang="hu-HU"/>
              <a:t> </a:t>
            </a:r>
            <a:r>
              <a:rPr lang="hu-HU" err="1"/>
              <a:t>model</a:t>
            </a:r>
            <a:r>
              <a:rPr lang="hu-HU"/>
              <a:t> is </a:t>
            </a:r>
            <a:r>
              <a:rPr lang="hu-HU" err="1"/>
              <a:t>strong</a:t>
            </a:r>
            <a:endParaRPr lang="hu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3D98E1-E15A-3D0A-B154-B95434F7C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err="1"/>
              <a:t>Property</a:t>
            </a:r>
            <a:r>
              <a:rPr lang="hu-HU"/>
              <a:t> </a:t>
            </a:r>
            <a:r>
              <a:rPr lang="hu-HU" err="1"/>
              <a:t>features</a:t>
            </a:r>
            <a:r>
              <a:rPr lang="hu-HU"/>
              <a:t> (</a:t>
            </a:r>
            <a:r>
              <a:rPr lang="hu-HU" err="1"/>
              <a:t>beds</a:t>
            </a:r>
            <a:r>
              <a:rPr lang="hu-HU"/>
              <a:t>, </a:t>
            </a:r>
            <a:r>
              <a:rPr lang="hu-HU" err="1"/>
              <a:t>bathrooms</a:t>
            </a:r>
            <a:r>
              <a:rPr lang="hu-HU"/>
              <a:t> etc.)</a:t>
            </a:r>
          </a:p>
          <a:p>
            <a:r>
              <a:rPr lang="hu-HU" err="1"/>
              <a:t>Review</a:t>
            </a:r>
            <a:r>
              <a:rPr lang="hu-HU"/>
              <a:t> </a:t>
            </a:r>
            <a:r>
              <a:rPr lang="hu-HU" err="1"/>
              <a:t>metrics</a:t>
            </a:r>
            <a:endParaRPr lang="hu-HU"/>
          </a:p>
          <a:p>
            <a:r>
              <a:rPr lang="hu-HU" err="1"/>
              <a:t>Amenity</a:t>
            </a:r>
            <a:r>
              <a:rPr lang="hu-HU"/>
              <a:t> </a:t>
            </a:r>
            <a:r>
              <a:rPr lang="hu-HU" err="1"/>
              <a:t>indicators</a:t>
            </a:r>
            <a:endParaRPr lang="hu-HU"/>
          </a:p>
          <a:p>
            <a:r>
              <a:rPr lang="hu-HU" err="1"/>
              <a:t>Spacial</a:t>
            </a:r>
            <a:r>
              <a:rPr lang="hu-HU"/>
              <a:t> </a:t>
            </a:r>
            <a:r>
              <a:rPr lang="hu-HU" err="1"/>
              <a:t>feature</a:t>
            </a:r>
            <a:r>
              <a:rPr lang="hu-HU"/>
              <a:t> (H3 </a:t>
            </a:r>
            <a:r>
              <a:rPr lang="hu-HU" err="1"/>
              <a:t>hexagons</a:t>
            </a:r>
            <a:r>
              <a:rPr lang="hu-HU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50491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E27AE-9376-160D-D259-960ABA072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815D561-434D-A272-FD0C-311431D26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H3 </a:t>
            </a:r>
            <a:r>
              <a:rPr lang="hu-HU" err="1"/>
              <a:t>spatial</a:t>
            </a:r>
            <a:r>
              <a:rPr lang="hu-HU"/>
              <a:t> </a:t>
            </a:r>
            <a:r>
              <a:rPr lang="hu-HU" err="1"/>
              <a:t>logic</a:t>
            </a:r>
            <a:endParaRPr lang="hu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77CC07-DC8F-D368-ED38-AE2DA877F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err="1"/>
              <a:t>Latitude</a:t>
            </a:r>
            <a:r>
              <a:rPr lang="hu-HU"/>
              <a:t>/</a:t>
            </a:r>
            <a:r>
              <a:rPr lang="hu-HU" err="1"/>
              <a:t>longitude</a:t>
            </a:r>
            <a:r>
              <a:rPr lang="hu-HU"/>
              <a:t> is converted </a:t>
            </a:r>
            <a:r>
              <a:rPr lang="hu-HU" err="1"/>
              <a:t>into</a:t>
            </a:r>
            <a:r>
              <a:rPr lang="hu-HU"/>
              <a:t> a </a:t>
            </a:r>
            <a:r>
              <a:rPr lang="hu-HU" err="1"/>
              <a:t>hexagonal</a:t>
            </a:r>
            <a:r>
              <a:rPr lang="hu-HU"/>
              <a:t> </a:t>
            </a:r>
            <a:r>
              <a:rPr lang="hu-HU" err="1"/>
              <a:t>grid</a:t>
            </a:r>
            <a:endParaRPr lang="hu-HU"/>
          </a:p>
          <a:p>
            <a:r>
              <a:rPr lang="hu-HU" err="1"/>
              <a:t>Computed</a:t>
            </a:r>
            <a:r>
              <a:rPr lang="hu-HU"/>
              <a:t> </a:t>
            </a:r>
            <a:r>
              <a:rPr lang="hu-HU" err="1"/>
              <a:t>median</a:t>
            </a:r>
            <a:r>
              <a:rPr lang="hu-HU"/>
              <a:t> </a:t>
            </a:r>
            <a:r>
              <a:rPr lang="hu-HU" err="1"/>
              <a:t>price</a:t>
            </a:r>
            <a:r>
              <a:rPr lang="hu-HU"/>
              <a:t> per </a:t>
            </a:r>
            <a:r>
              <a:rPr lang="hu-HU" err="1"/>
              <a:t>hex</a:t>
            </a:r>
            <a:r>
              <a:rPr lang="hu-HU"/>
              <a:t> </a:t>
            </a:r>
            <a:r>
              <a:rPr lang="hu-HU" err="1"/>
              <a:t>cell</a:t>
            </a:r>
            <a:endParaRPr lang="hu-HU"/>
          </a:p>
          <a:p>
            <a:r>
              <a:rPr lang="hu-HU" err="1"/>
              <a:t>Leading</a:t>
            </a:r>
            <a:r>
              <a:rPr lang="hu-HU"/>
              <a:t> </a:t>
            </a:r>
            <a:r>
              <a:rPr lang="hu-HU" err="1"/>
              <a:t>to</a:t>
            </a:r>
            <a:r>
              <a:rPr lang="hu-HU"/>
              <a:t> a </a:t>
            </a:r>
            <a:r>
              <a:rPr lang="hu-HU" err="1"/>
              <a:t>created</a:t>
            </a:r>
            <a:r>
              <a:rPr lang="hu-HU"/>
              <a:t> </a:t>
            </a:r>
            <a:r>
              <a:rPr lang="hu-HU" err="1"/>
              <a:t>feature</a:t>
            </a:r>
            <a:r>
              <a:rPr lang="hu-HU"/>
              <a:t> of </a:t>
            </a:r>
            <a:r>
              <a:rPr lang="hu-HU" i="1"/>
              <a:t>h3_price_median</a:t>
            </a:r>
          </a:p>
          <a:p>
            <a:r>
              <a:rPr lang="hu-HU" err="1"/>
              <a:t>Neighbourhood-level</a:t>
            </a:r>
            <a:r>
              <a:rPr lang="hu-HU"/>
              <a:t> </a:t>
            </a:r>
            <a:r>
              <a:rPr lang="hu-HU" err="1"/>
              <a:t>pricing</a:t>
            </a:r>
            <a:r>
              <a:rPr lang="hu-HU"/>
              <a:t> </a:t>
            </a:r>
            <a:r>
              <a:rPr lang="hu-HU" err="1"/>
              <a:t>strategies</a:t>
            </a:r>
            <a:r>
              <a:rPr lang="hu-HU"/>
              <a:t> </a:t>
            </a:r>
            <a:r>
              <a:rPr lang="hu-HU" err="1"/>
              <a:t>available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0494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EBB53-056E-859E-35B0-AA496BF4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F7455F2-0537-1353-8F1E-71A8916A6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err="1"/>
              <a:t>Model</a:t>
            </a:r>
            <a:r>
              <a:rPr lang="hu-HU"/>
              <a:t> </a:t>
            </a:r>
            <a:r>
              <a:rPr lang="hu-HU" err="1"/>
              <a:t>development</a:t>
            </a:r>
            <a:endParaRPr lang="hu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7E503D-1CBD-A744-D003-AD7F4F047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err="1"/>
              <a:t>Baseline</a:t>
            </a:r>
            <a:r>
              <a:rPr lang="hu-HU"/>
              <a:t> </a:t>
            </a:r>
            <a:r>
              <a:rPr lang="hu-HU" err="1"/>
              <a:t>was</a:t>
            </a:r>
            <a:r>
              <a:rPr lang="hu-HU"/>
              <a:t> Random Forest</a:t>
            </a:r>
          </a:p>
          <a:p>
            <a:r>
              <a:rPr lang="hu-HU" err="1"/>
              <a:t>Final</a:t>
            </a:r>
            <a:r>
              <a:rPr lang="hu-HU"/>
              <a:t>: GPU-</a:t>
            </a:r>
            <a:r>
              <a:rPr lang="hu-HU" err="1"/>
              <a:t>accelerated</a:t>
            </a:r>
            <a:r>
              <a:rPr lang="hu-HU"/>
              <a:t> </a:t>
            </a:r>
            <a:r>
              <a:rPr lang="hu-HU" err="1"/>
              <a:t>XGBoost</a:t>
            </a:r>
            <a:endParaRPr lang="hu-HU"/>
          </a:p>
          <a:p>
            <a:pPr lvl="1"/>
            <a:r>
              <a:rPr lang="hu-HU" err="1"/>
              <a:t>performed</a:t>
            </a:r>
            <a:r>
              <a:rPr lang="hu-HU"/>
              <a:t> a </a:t>
            </a:r>
            <a:r>
              <a:rPr lang="hu-HU" err="1"/>
              <a:t>lot</a:t>
            </a:r>
            <a:r>
              <a:rPr lang="hu-HU"/>
              <a:t> </a:t>
            </a:r>
            <a:r>
              <a:rPr lang="hu-HU" err="1"/>
              <a:t>better</a:t>
            </a:r>
            <a:r>
              <a:rPr lang="hu-HU"/>
              <a:t> </a:t>
            </a:r>
            <a:r>
              <a:rPr lang="hu-HU" err="1"/>
              <a:t>than</a:t>
            </a:r>
            <a:r>
              <a:rPr lang="hu-HU"/>
              <a:t> Random Forest</a:t>
            </a:r>
          </a:p>
        </p:txBody>
      </p:sp>
    </p:spTree>
    <p:extLst>
      <p:ext uri="{BB962C8B-B14F-4D97-AF65-F5344CB8AC3E}">
        <p14:creationId xmlns:p14="http://schemas.microsoft.com/office/powerpoint/2010/main" val="894326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6D7C4-55E7-ED80-50D9-021912E36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CD7791-BA42-A977-89CB-941430822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err="1"/>
              <a:t>Model</a:t>
            </a:r>
            <a:r>
              <a:rPr lang="hu-HU"/>
              <a:t> performance</a:t>
            </a:r>
            <a:endParaRPr lang="hu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C27E01-70CC-A877-8254-38F0757D4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/>
              <a:t>MAE: ~0.239</a:t>
            </a:r>
          </a:p>
          <a:p>
            <a:r>
              <a:rPr lang="hu-HU"/>
              <a:t>RMSE: ~0.317</a:t>
            </a:r>
          </a:p>
          <a:p>
            <a:r>
              <a:rPr lang="hu-HU"/>
              <a:t>R</a:t>
            </a:r>
            <a:r>
              <a:rPr lang="hu-HU" baseline="30000"/>
              <a:t>2</a:t>
            </a:r>
            <a:r>
              <a:rPr lang="hu-HU"/>
              <a:t>: ~0.82</a:t>
            </a:r>
            <a:endParaRPr lang="hu-HU" baseline="30000"/>
          </a:p>
          <a:p>
            <a:r>
              <a:rPr lang="hu-HU"/>
              <a:t>The </a:t>
            </a:r>
            <a:r>
              <a:rPr lang="hu-HU" err="1"/>
              <a:t>model</a:t>
            </a:r>
            <a:r>
              <a:rPr lang="hu-HU"/>
              <a:t> </a:t>
            </a:r>
            <a:r>
              <a:rPr lang="hu-HU" err="1"/>
              <a:t>explains</a:t>
            </a:r>
            <a:r>
              <a:rPr lang="hu-HU"/>
              <a:t> </a:t>
            </a:r>
            <a:r>
              <a:rPr lang="hu-HU" err="1"/>
              <a:t>appr</a:t>
            </a:r>
            <a:r>
              <a:rPr lang="hu-HU"/>
              <a:t>. 82% of </a:t>
            </a:r>
            <a:r>
              <a:rPr lang="hu-HU" err="1"/>
              <a:t>price</a:t>
            </a:r>
            <a:r>
              <a:rPr lang="hu-HU"/>
              <a:t> </a:t>
            </a:r>
            <a:r>
              <a:rPr lang="hu-HU" err="1"/>
              <a:t>variation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7140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0A835-2E75-8844-FF80-242A65B35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608F74F-B9C5-6853-C96A-E1BC4B3A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Key </a:t>
            </a:r>
            <a:r>
              <a:rPr lang="hu-HU" err="1"/>
              <a:t>features</a:t>
            </a:r>
            <a:r>
              <a:rPr lang="hu-HU"/>
              <a:t> </a:t>
            </a:r>
            <a:r>
              <a:rPr lang="hu-HU" err="1"/>
              <a:t>driving</a:t>
            </a:r>
            <a:r>
              <a:rPr lang="hu-HU"/>
              <a:t> </a:t>
            </a:r>
            <a:r>
              <a:rPr lang="hu-HU" err="1"/>
              <a:t>price</a:t>
            </a:r>
            <a:endParaRPr lang="hu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D73B63-83E7-4EF1-6A8F-FE2C001E5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err="1"/>
              <a:t>Accomodates</a:t>
            </a:r>
            <a:r>
              <a:rPr lang="hu-HU"/>
              <a:t>, </a:t>
            </a:r>
            <a:r>
              <a:rPr lang="hu-HU" err="1"/>
              <a:t>bedrooms</a:t>
            </a:r>
            <a:r>
              <a:rPr lang="hu-HU"/>
              <a:t>, </a:t>
            </a:r>
            <a:r>
              <a:rPr lang="hu-HU" err="1"/>
              <a:t>bathrooms</a:t>
            </a:r>
            <a:endParaRPr lang="hu-HU"/>
          </a:p>
          <a:p>
            <a:r>
              <a:rPr lang="hu-HU" err="1"/>
              <a:t>Reviews</a:t>
            </a:r>
            <a:r>
              <a:rPr lang="hu-HU"/>
              <a:t> and </a:t>
            </a:r>
            <a:r>
              <a:rPr lang="hu-HU" err="1"/>
              <a:t>ratings</a:t>
            </a:r>
            <a:endParaRPr lang="hu-HU"/>
          </a:p>
          <a:p>
            <a:r>
              <a:rPr lang="hu-HU" err="1"/>
              <a:t>Important</a:t>
            </a:r>
            <a:r>
              <a:rPr lang="hu-HU"/>
              <a:t> </a:t>
            </a:r>
            <a:r>
              <a:rPr lang="hu-HU" err="1"/>
              <a:t>amenities</a:t>
            </a:r>
            <a:endParaRPr lang="hu-HU"/>
          </a:p>
          <a:p>
            <a:r>
              <a:rPr lang="hu-HU"/>
              <a:t>h3_price_median</a:t>
            </a:r>
          </a:p>
        </p:txBody>
      </p:sp>
    </p:spTree>
    <p:extLst>
      <p:ext uri="{BB962C8B-B14F-4D97-AF65-F5344CB8AC3E}">
        <p14:creationId xmlns:p14="http://schemas.microsoft.com/office/powerpoint/2010/main" val="1144121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C3EF5-FF29-4BCE-7F37-001D229AE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D575068-BEB2-905C-FFB8-96A07BF5B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/>
          <a:p>
            <a:pPr rtl="0"/>
            <a:r>
              <a:rPr lang="hu-HU"/>
              <a:t>H3 </a:t>
            </a:r>
            <a:r>
              <a:rPr lang="hu-HU" err="1"/>
              <a:t>pricing</a:t>
            </a:r>
            <a:r>
              <a:rPr lang="hu-HU"/>
              <a:t> </a:t>
            </a:r>
            <a:r>
              <a:rPr lang="hu-HU" err="1"/>
              <a:t>maps</a:t>
            </a:r>
            <a:r>
              <a:rPr lang="hu-HU"/>
              <a:t> - </a:t>
            </a:r>
            <a:r>
              <a:rPr lang="hu-HU" err="1"/>
              <a:t>barcelona</a:t>
            </a:r>
            <a:endParaRPr lang="hu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20640B7-AECD-0BDC-1463-2439EE7B1C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92036" y="603695"/>
            <a:ext cx="5774437" cy="5760000"/>
          </a:xfrm>
          <a:prstGeom prst="rect">
            <a:avLst/>
          </a:prstGeom>
          <a:noFill/>
        </p:spPr>
      </p:pic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78564FF-C06E-A2D7-CB17-F37CA264E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/>
          <a:lstStyle/>
          <a:p>
            <a:r>
              <a:rPr lang="hu-HU" err="1"/>
              <a:t>Lists</a:t>
            </a:r>
            <a:r>
              <a:rPr lang="hu-HU"/>
              <a:t>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u-HU"/>
              <a:t>H3 ID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u-HU" err="1"/>
              <a:t>Gap</a:t>
            </a:r>
            <a:r>
              <a:rPr lang="hu-HU"/>
              <a:t> </a:t>
            </a:r>
            <a:r>
              <a:rPr lang="hu-HU" err="1"/>
              <a:t>to</a:t>
            </a:r>
            <a:r>
              <a:rPr lang="hu-HU"/>
              <a:t> </a:t>
            </a:r>
            <a:r>
              <a:rPr lang="hu-HU" err="1"/>
              <a:t>median</a:t>
            </a:r>
            <a:r>
              <a:rPr lang="hu-HU"/>
              <a:t> in </a:t>
            </a:r>
            <a:r>
              <a:rPr lang="hu-HU" err="1"/>
              <a:t>both</a:t>
            </a:r>
            <a:r>
              <a:rPr lang="hu-HU"/>
              <a:t> </a:t>
            </a:r>
            <a:r>
              <a:rPr lang="hu-HU" err="1"/>
              <a:t>directions</a:t>
            </a:r>
            <a:r>
              <a:rPr lang="hu-HU"/>
              <a:t> in </a:t>
            </a:r>
            <a:r>
              <a:rPr lang="hu-HU" err="1"/>
              <a:t>both</a:t>
            </a:r>
            <a:r>
              <a:rPr lang="hu-HU"/>
              <a:t> </a:t>
            </a:r>
            <a:r>
              <a:rPr lang="hu-HU" err="1"/>
              <a:t>percentage</a:t>
            </a:r>
            <a:r>
              <a:rPr lang="hu-HU"/>
              <a:t> and </a:t>
            </a:r>
            <a:r>
              <a:rPr lang="hu-HU" err="1"/>
              <a:t>price</a:t>
            </a:r>
            <a:endParaRPr lang="hu-HU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u-HU"/>
              <a:t>No. of </a:t>
            </a:r>
            <a:r>
              <a:rPr lang="hu-HU" err="1"/>
              <a:t>listings</a:t>
            </a:r>
            <a:r>
              <a:rPr lang="hu-HU"/>
              <a:t> in </a:t>
            </a:r>
            <a:r>
              <a:rPr lang="hu-HU" err="1"/>
              <a:t>the</a:t>
            </a:r>
            <a:r>
              <a:rPr lang="hu-HU"/>
              <a:t> </a:t>
            </a:r>
            <a:r>
              <a:rPr lang="hu-HU" err="1"/>
              <a:t>given</a:t>
            </a:r>
            <a:r>
              <a:rPr lang="hu-HU"/>
              <a:t> </a:t>
            </a:r>
            <a:r>
              <a:rPr lang="hu-HU" err="1"/>
              <a:t>hexagon</a:t>
            </a:r>
            <a:endParaRPr lang="hu-HU"/>
          </a:p>
          <a:p>
            <a:r>
              <a:rPr lang="hu-HU" err="1"/>
              <a:t>Blue</a:t>
            </a:r>
            <a:r>
              <a:rPr lang="hu-HU"/>
              <a:t>: </a:t>
            </a:r>
            <a:r>
              <a:rPr lang="hu-HU" err="1"/>
              <a:t>underpriced</a:t>
            </a:r>
            <a:r>
              <a:rPr lang="hu-HU"/>
              <a:t>, </a:t>
            </a:r>
            <a:r>
              <a:rPr lang="hu-HU" err="1"/>
              <a:t>opportunity</a:t>
            </a:r>
            <a:endParaRPr lang="hu-HU"/>
          </a:p>
          <a:p>
            <a:r>
              <a:rPr lang="hu-HU"/>
              <a:t>Red: </a:t>
            </a:r>
            <a:r>
              <a:rPr lang="hu-HU" err="1"/>
              <a:t>overpriced</a:t>
            </a:r>
            <a:r>
              <a:rPr lang="hu-HU"/>
              <a:t>, </a:t>
            </a:r>
            <a:r>
              <a:rPr lang="hu-HU" err="1"/>
              <a:t>increased</a:t>
            </a:r>
            <a:r>
              <a:rPr lang="hu-HU"/>
              <a:t> </a:t>
            </a:r>
            <a:r>
              <a:rPr lang="hu-HU" err="1"/>
              <a:t>risk</a:t>
            </a:r>
            <a:endParaRPr lang="hu-HU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612963CD-F07A-6C17-0C66-D06E76EAE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8E36CDD0-238B-4F40-902D-B0ABB84BD03D}" type="datetime1">
              <a:rPr lang="hu-HU" smtClean="0"/>
              <a:pPr rtl="0">
                <a:spcAft>
                  <a:spcPts val="600"/>
                </a:spcAft>
              </a:pPr>
              <a:t>2026. 04. 21.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853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F7BBC-2D74-F12D-0A5F-CC8F472C8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4A35CB2-E6C2-2A4B-1CA3-2FB12670D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/>
          <a:p>
            <a:pPr rtl="0"/>
            <a:r>
              <a:rPr lang="hu-HU"/>
              <a:t>H3 </a:t>
            </a:r>
            <a:r>
              <a:rPr lang="hu-HU" err="1"/>
              <a:t>pricing</a:t>
            </a:r>
            <a:r>
              <a:rPr lang="hu-HU"/>
              <a:t> </a:t>
            </a:r>
            <a:r>
              <a:rPr lang="hu-HU" err="1"/>
              <a:t>maps</a:t>
            </a:r>
            <a:r>
              <a:rPr lang="hu-HU"/>
              <a:t> – </a:t>
            </a:r>
            <a:r>
              <a:rPr lang="hu-HU" err="1"/>
              <a:t>new</a:t>
            </a:r>
            <a:r>
              <a:rPr lang="hu-HU"/>
              <a:t> </a:t>
            </a:r>
            <a:r>
              <a:rPr lang="hu-HU" err="1"/>
              <a:t>york</a:t>
            </a:r>
            <a:endParaRPr lang="hu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013D0CB4-3473-0F6A-4608-BD3E6B6B3E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/>
          <a:lstStyle/>
          <a:p>
            <a:r>
              <a:rPr lang="hu-HU" err="1"/>
              <a:t>Lists</a:t>
            </a:r>
            <a:r>
              <a:rPr lang="hu-HU"/>
              <a:t>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u-HU"/>
              <a:t>H3 ID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u-HU" err="1"/>
              <a:t>Gap</a:t>
            </a:r>
            <a:r>
              <a:rPr lang="hu-HU"/>
              <a:t> </a:t>
            </a:r>
            <a:r>
              <a:rPr lang="hu-HU" err="1"/>
              <a:t>to</a:t>
            </a:r>
            <a:r>
              <a:rPr lang="hu-HU"/>
              <a:t> </a:t>
            </a:r>
            <a:r>
              <a:rPr lang="hu-HU" err="1"/>
              <a:t>median</a:t>
            </a:r>
            <a:r>
              <a:rPr lang="hu-HU"/>
              <a:t> in </a:t>
            </a:r>
            <a:r>
              <a:rPr lang="hu-HU" err="1"/>
              <a:t>both</a:t>
            </a:r>
            <a:r>
              <a:rPr lang="hu-HU"/>
              <a:t> </a:t>
            </a:r>
            <a:r>
              <a:rPr lang="hu-HU" err="1"/>
              <a:t>directions</a:t>
            </a:r>
            <a:r>
              <a:rPr lang="hu-HU"/>
              <a:t> in </a:t>
            </a:r>
            <a:r>
              <a:rPr lang="hu-HU" err="1"/>
              <a:t>both</a:t>
            </a:r>
            <a:r>
              <a:rPr lang="hu-HU"/>
              <a:t> </a:t>
            </a:r>
            <a:r>
              <a:rPr lang="hu-HU" err="1"/>
              <a:t>percentage</a:t>
            </a:r>
            <a:r>
              <a:rPr lang="hu-HU"/>
              <a:t> and </a:t>
            </a:r>
            <a:r>
              <a:rPr lang="hu-HU" err="1"/>
              <a:t>price</a:t>
            </a:r>
            <a:endParaRPr lang="hu-HU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u-HU"/>
              <a:t>No. of </a:t>
            </a:r>
            <a:r>
              <a:rPr lang="hu-HU" err="1"/>
              <a:t>listings</a:t>
            </a:r>
            <a:r>
              <a:rPr lang="hu-HU"/>
              <a:t> in </a:t>
            </a:r>
            <a:r>
              <a:rPr lang="hu-HU" err="1"/>
              <a:t>the</a:t>
            </a:r>
            <a:r>
              <a:rPr lang="hu-HU"/>
              <a:t> </a:t>
            </a:r>
            <a:r>
              <a:rPr lang="hu-HU" err="1"/>
              <a:t>given</a:t>
            </a:r>
            <a:r>
              <a:rPr lang="hu-HU"/>
              <a:t> </a:t>
            </a:r>
            <a:r>
              <a:rPr lang="hu-HU" err="1"/>
              <a:t>hexagon</a:t>
            </a:r>
            <a:endParaRPr lang="hu-HU"/>
          </a:p>
          <a:p>
            <a:r>
              <a:rPr lang="hu-HU" err="1"/>
              <a:t>Blue</a:t>
            </a:r>
            <a:r>
              <a:rPr lang="hu-HU"/>
              <a:t>: </a:t>
            </a:r>
            <a:r>
              <a:rPr lang="hu-HU" err="1"/>
              <a:t>underpriced</a:t>
            </a:r>
            <a:r>
              <a:rPr lang="hu-HU"/>
              <a:t>, </a:t>
            </a:r>
            <a:r>
              <a:rPr lang="hu-HU" err="1"/>
              <a:t>opportunity</a:t>
            </a:r>
            <a:endParaRPr lang="hu-HU"/>
          </a:p>
          <a:p>
            <a:r>
              <a:rPr lang="hu-HU"/>
              <a:t>Red: </a:t>
            </a:r>
            <a:r>
              <a:rPr lang="hu-HU" err="1"/>
              <a:t>overpriced</a:t>
            </a:r>
            <a:r>
              <a:rPr lang="hu-HU"/>
              <a:t>, </a:t>
            </a:r>
            <a:r>
              <a:rPr lang="hu-HU" err="1"/>
              <a:t>increased</a:t>
            </a:r>
            <a:r>
              <a:rPr lang="hu-HU"/>
              <a:t> </a:t>
            </a:r>
            <a:r>
              <a:rPr lang="hu-HU" err="1"/>
              <a:t>risk</a:t>
            </a:r>
            <a:endParaRPr lang="hu-HU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B17ACF91-896F-3E0E-DAE2-446F74A99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8E36CDD0-238B-4F40-902D-B0ABB84BD03D}" type="datetime1">
              <a:rPr lang="hu-HU" smtClean="0"/>
              <a:pPr rtl="0">
                <a:spcAft>
                  <a:spcPts val="600"/>
                </a:spcAft>
              </a:pPr>
              <a:t>2026. 04. 21.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FBF217-964F-24B9-86C5-EEA1B6DE1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248" y="696916"/>
            <a:ext cx="5384349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08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E8460-756B-FC95-26C4-BC6D90689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A7166AD-8A21-BE05-1E6A-BD4D7F2C2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err="1"/>
              <a:t>Revenue</a:t>
            </a:r>
            <a:r>
              <a:rPr lang="hu-HU"/>
              <a:t> </a:t>
            </a:r>
            <a:r>
              <a:rPr lang="hu-HU" err="1"/>
              <a:t>simulation</a:t>
            </a:r>
            <a:endParaRPr lang="hu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12113A-EAAA-2192-FCF5-FAACE2BED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hu-HU" err="1"/>
              <a:t>Steps</a:t>
            </a:r>
            <a:r>
              <a:rPr lang="hu-HU"/>
              <a:t> </a:t>
            </a:r>
            <a:r>
              <a:rPr lang="hu-HU" err="1"/>
              <a:t>applied</a:t>
            </a:r>
            <a:r>
              <a:rPr lang="hu-HU"/>
              <a:t> </a:t>
            </a:r>
            <a:r>
              <a:rPr lang="hu-HU" err="1"/>
              <a:t>before</a:t>
            </a:r>
            <a:r>
              <a:rPr lang="hu-HU"/>
              <a:t>:</a:t>
            </a:r>
          </a:p>
          <a:p>
            <a:r>
              <a:rPr lang="hu-HU" err="1"/>
              <a:t>Adjusted</a:t>
            </a:r>
            <a:r>
              <a:rPr lang="hu-HU"/>
              <a:t> </a:t>
            </a:r>
            <a:r>
              <a:rPr lang="hu-HU" err="1"/>
              <a:t>prices</a:t>
            </a:r>
            <a:r>
              <a:rPr lang="hu-HU"/>
              <a:t> </a:t>
            </a:r>
            <a:r>
              <a:rPr lang="hu-HU" err="1"/>
              <a:t>based</a:t>
            </a:r>
            <a:r>
              <a:rPr lang="hu-HU"/>
              <a:t> </a:t>
            </a:r>
            <a:r>
              <a:rPr lang="hu-HU" err="1"/>
              <a:t>on</a:t>
            </a:r>
            <a:r>
              <a:rPr lang="hu-HU"/>
              <a:t> </a:t>
            </a:r>
            <a:r>
              <a:rPr lang="hu-HU" err="1"/>
              <a:t>the</a:t>
            </a:r>
            <a:r>
              <a:rPr lang="hu-HU"/>
              <a:t> </a:t>
            </a:r>
            <a:r>
              <a:rPr lang="hu-HU" err="1"/>
              <a:t>model</a:t>
            </a:r>
            <a:endParaRPr lang="hu-HU"/>
          </a:p>
          <a:p>
            <a:r>
              <a:rPr lang="hu-HU" err="1"/>
              <a:t>Used</a:t>
            </a:r>
            <a:r>
              <a:rPr lang="hu-HU"/>
              <a:t> </a:t>
            </a:r>
            <a:r>
              <a:rPr lang="hu-HU" err="1"/>
              <a:t>availability</a:t>
            </a:r>
            <a:r>
              <a:rPr lang="hu-HU"/>
              <a:t> </a:t>
            </a:r>
            <a:r>
              <a:rPr lang="hu-HU" err="1"/>
              <a:t>as</a:t>
            </a:r>
            <a:r>
              <a:rPr lang="hu-HU"/>
              <a:t> </a:t>
            </a:r>
            <a:r>
              <a:rPr lang="hu-HU" err="1"/>
              <a:t>occupancy</a:t>
            </a:r>
            <a:r>
              <a:rPr lang="hu-HU"/>
              <a:t> proxy</a:t>
            </a:r>
          </a:p>
          <a:p>
            <a:r>
              <a:rPr lang="hu-HU"/>
              <a:t>Tested </a:t>
            </a:r>
            <a:r>
              <a:rPr lang="hu-HU" err="1"/>
              <a:t>price</a:t>
            </a:r>
            <a:r>
              <a:rPr lang="hu-HU"/>
              <a:t> </a:t>
            </a:r>
            <a:r>
              <a:rPr lang="hu-HU" err="1"/>
              <a:t>elasticity</a:t>
            </a:r>
            <a:r>
              <a:rPr lang="hu-HU"/>
              <a:t> </a:t>
            </a:r>
            <a:r>
              <a:rPr lang="hu-HU" err="1"/>
              <a:t>scenarios</a:t>
            </a:r>
            <a:endParaRPr lang="hu-HU"/>
          </a:p>
          <a:p>
            <a:endParaRPr lang="hu-HU"/>
          </a:p>
          <a:p>
            <a:pPr marL="0" indent="0">
              <a:buNone/>
            </a:pPr>
            <a:r>
              <a:rPr lang="hu-HU" err="1"/>
              <a:t>Ran</a:t>
            </a:r>
            <a:r>
              <a:rPr lang="hu-HU"/>
              <a:t> </a:t>
            </a:r>
            <a:r>
              <a:rPr lang="hu-HU" err="1"/>
              <a:t>multiple</a:t>
            </a:r>
            <a:r>
              <a:rPr lang="hu-HU"/>
              <a:t> </a:t>
            </a:r>
            <a:r>
              <a:rPr lang="hu-HU" err="1"/>
              <a:t>simulations</a:t>
            </a:r>
            <a:r>
              <a:rPr lang="hu-HU"/>
              <a:t> </a:t>
            </a:r>
            <a:r>
              <a:rPr lang="hu-HU" err="1"/>
              <a:t>with</a:t>
            </a:r>
            <a:endParaRPr lang="hu-HU"/>
          </a:p>
          <a:p>
            <a:r>
              <a:rPr lang="hu-HU" err="1"/>
              <a:t>Different</a:t>
            </a:r>
            <a:r>
              <a:rPr lang="hu-HU"/>
              <a:t> </a:t>
            </a:r>
            <a:r>
              <a:rPr lang="hu-HU" err="1"/>
              <a:t>price</a:t>
            </a:r>
            <a:r>
              <a:rPr lang="hu-HU"/>
              <a:t> </a:t>
            </a:r>
            <a:r>
              <a:rPr lang="hu-HU" err="1"/>
              <a:t>changes</a:t>
            </a:r>
            <a:endParaRPr lang="hu-HU"/>
          </a:p>
          <a:p>
            <a:r>
              <a:rPr lang="hu-HU" err="1"/>
              <a:t>Different</a:t>
            </a:r>
            <a:r>
              <a:rPr lang="hu-HU"/>
              <a:t> </a:t>
            </a:r>
            <a:r>
              <a:rPr lang="hu-HU" err="1"/>
              <a:t>demand</a:t>
            </a:r>
            <a:r>
              <a:rPr lang="hu-HU"/>
              <a:t> </a:t>
            </a:r>
            <a:r>
              <a:rPr lang="hu-HU" err="1"/>
              <a:t>assumptions</a:t>
            </a:r>
            <a:endParaRPr lang="hu-HU"/>
          </a:p>
          <a:p>
            <a:pPr marL="0" indent="0">
              <a:buNone/>
            </a:pPr>
            <a:endParaRPr lang="hu-HU"/>
          </a:p>
          <a:p>
            <a:pPr marL="0" indent="0">
              <a:buNone/>
            </a:pPr>
            <a:r>
              <a:rPr lang="hu-HU" err="1"/>
              <a:t>Outcome</a:t>
            </a:r>
            <a:r>
              <a:rPr lang="hu-HU"/>
              <a:t> </a:t>
            </a:r>
            <a:r>
              <a:rPr lang="hu-HU" err="1"/>
              <a:t>depends</a:t>
            </a:r>
            <a:r>
              <a:rPr lang="hu-HU"/>
              <a:t> </a:t>
            </a:r>
            <a:r>
              <a:rPr lang="hu-HU" err="1"/>
              <a:t>on</a:t>
            </a:r>
            <a:r>
              <a:rPr lang="hu-HU"/>
              <a:t> </a:t>
            </a:r>
            <a:r>
              <a:rPr lang="hu-HU" err="1"/>
              <a:t>the</a:t>
            </a:r>
            <a:r>
              <a:rPr lang="hu-HU"/>
              <a:t> </a:t>
            </a:r>
            <a:r>
              <a:rPr lang="hu-HU" err="1"/>
              <a:t>strategy</a:t>
            </a:r>
            <a:r>
              <a:rPr lang="hu-HU"/>
              <a:t> </a:t>
            </a:r>
            <a:r>
              <a:rPr lang="hu-HU" err="1"/>
              <a:t>too</a:t>
            </a:r>
            <a:r>
              <a:rPr lang="hu-HU"/>
              <a:t>, </a:t>
            </a:r>
            <a:r>
              <a:rPr lang="hu-HU" err="1"/>
              <a:t>not</a:t>
            </a:r>
            <a:r>
              <a:rPr lang="hu-HU"/>
              <a:t> </a:t>
            </a:r>
            <a:r>
              <a:rPr lang="hu-HU" err="1"/>
              <a:t>just</a:t>
            </a:r>
            <a:r>
              <a:rPr lang="hu-HU"/>
              <a:t> </a:t>
            </a:r>
            <a:r>
              <a:rPr lang="hu-HU" err="1"/>
              <a:t>the</a:t>
            </a:r>
            <a:r>
              <a:rPr lang="hu-HU"/>
              <a:t> </a:t>
            </a:r>
            <a:r>
              <a:rPr lang="hu-HU" err="1"/>
              <a:t>model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08217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FD63B-D0F6-8C8C-95A7-96A49DED5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039314-07B8-7DD1-06D1-1568C7FB4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Business </a:t>
            </a:r>
            <a:r>
              <a:rPr lang="hu-HU" err="1"/>
              <a:t>insights</a:t>
            </a:r>
            <a:endParaRPr lang="hu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2233C9-F9CE-6F3E-BCCF-888C1BB7E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err="1"/>
              <a:t>Full</a:t>
            </a:r>
            <a:r>
              <a:rPr lang="hu-HU"/>
              <a:t> </a:t>
            </a:r>
            <a:r>
              <a:rPr lang="hu-HU" err="1"/>
              <a:t>price</a:t>
            </a:r>
            <a:r>
              <a:rPr lang="hu-HU"/>
              <a:t> </a:t>
            </a:r>
            <a:r>
              <a:rPr lang="hu-HU" err="1"/>
              <a:t>alignment</a:t>
            </a:r>
            <a:r>
              <a:rPr lang="hu-HU"/>
              <a:t> IS NOT </a:t>
            </a:r>
            <a:r>
              <a:rPr lang="hu-HU" err="1"/>
              <a:t>the</a:t>
            </a:r>
            <a:r>
              <a:rPr lang="hu-HU"/>
              <a:t> </a:t>
            </a:r>
            <a:r>
              <a:rPr lang="hu-HU" err="1"/>
              <a:t>best</a:t>
            </a:r>
            <a:r>
              <a:rPr lang="hu-HU"/>
              <a:t> </a:t>
            </a:r>
            <a:r>
              <a:rPr lang="hu-HU" err="1"/>
              <a:t>possible</a:t>
            </a:r>
            <a:r>
              <a:rPr lang="hu-HU"/>
              <a:t> </a:t>
            </a:r>
            <a:r>
              <a:rPr lang="hu-HU" err="1"/>
              <a:t>outcome</a:t>
            </a:r>
            <a:endParaRPr lang="hu-HU"/>
          </a:p>
          <a:p>
            <a:pPr marL="0" indent="0">
              <a:buNone/>
            </a:pPr>
            <a:r>
              <a:rPr lang="hu-HU" err="1"/>
              <a:t>Conservative</a:t>
            </a:r>
            <a:r>
              <a:rPr lang="hu-HU"/>
              <a:t> </a:t>
            </a:r>
            <a:r>
              <a:rPr lang="hu-HU" err="1"/>
              <a:t>price</a:t>
            </a:r>
            <a:r>
              <a:rPr lang="hu-HU"/>
              <a:t> </a:t>
            </a:r>
            <a:r>
              <a:rPr lang="hu-HU" err="1"/>
              <a:t>increase</a:t>
            </a:r>
            <a:r>
              <a:rPr lang="hu-HU"/>
              <a:t> </a:t>
            </a:r>
            <a:r>
              <a:rPr lang="hu-HU" err="1"/>
              <a:t>works</a:t>
            </a:r>
            <a:r>
              <a:rPr lang="hu-HU"/>
              <a:t> </a:t>
            </a:r>
            <a:r>
              <a:rPr lang="hu-HU" err="1"/>
              <a:t>the</a:t>
            </a:r>
            <a:r>
              <a:rPr lang="hu-HU"/>
              <a:t> </a:t>
            </a:r>
            <a:r>
              <a:rPr lang="hu-HU" err="1"/>
              <a:t>best</a:t>
            </a:r>
            <a:endParaRPr lang="hu-HU"/>
          </a:p>
          <a:p>
            <a:pPr marL="0" indent="0">
              <a:buNone/>
            </a:pPr>
            <a:r>
              <a:rPr lang="hu-HU" err="1"/>
              <a:t>Estimated</a:t>
            </a:r>
            <a:r>
              <a:rPr lang="hu-HU"/>
              <a:t> </a:t>
            </a:r>
            <a:r>
              <a:rPr lang="hu-HU" err="1"/>
              <a:t>impacts</a:t>
            </a:r>
            <a:r>
              <a:rPr lang="hu-HU"/>
              <a:t>:</a:t>
            </a:r>
          </a:p>
          <a:p>
            <a:r>
              <a:rPr lang="hu-HU" err="1"/>
              <a:t>Realistically</a:t>
            </a:r>
            <a:r>
              <a:rPr lang="hu-HU"/>
              <a:t> 2-3%</a:t>
            </a:r>
          </a:p>
          <a:p>
            <a:r>
              <a:rPr lang="hu-HU" err="1"/>
              <a:t>Optimistically</a:t>
            </a:r>
            <a:r>
              <a:rPr lang="hu-HU"/>
              <a:t> </a:t>
            </a:r>
            <a:r>
              <a:rPr lang="hu-HU" err="1"/>
              <a:t>up</a:t>
            </a:r>
            <a:r>
              <a:rPr lang="hu-HU"/>
              <a:t> </a:t>
            </a:r>
            <a:r>
              <a:rPr lang="hu-HU" err="1"/>
              <a:t>to</a:t>
            </a:r>
            <a:r>
              <a:rPr lang="hu-HU"/>
              <a:t> 5%</a:t>
            </a:r>
          </a:p>
        </p:txBody>
      </p:sp>
    </p:spTree>
    <p:extLst>
      <p:ext uri="{BB962C8B-B14F-4D97-AF65-F5344CB8AC3E}">
        <p14:creationId xmlns:p14="http://schemas.microsoft.com/office/powerpoint/2010/main" val="1172736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0547D-0F88-4D10-E459-B8F6F61C5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F040901-3114-D254-0C91-08BD4B0A4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err="1"/>
              <a:t>limitations</a:t>
            </a:r>
            <a:endParaRPr lang="hu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FFB618-698F-D1ED-A405-5584E73EF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err="1"/>
              <a:t>Revenue</a:t>
            </a:r>
            <a:r>
              <a:rPr lang="hu-HU"/>
              <a:t> is </a:t>
            </a:r>
            <a:r>
              <a:rPr lang="hu-HU" err="1"/>
              <a:t>simulated</a:t>
            </a:r>
            <a:r>
              <a:rPr lang="hu-HU"/>
              <a:t>, is </a:t>
            </a:r>
            <a:r>
              <a:rPr lang="hu-HU" err="1"/>
              <a:t>not</a:t>
            </a:r>
            <a:r>
              <a:rPr lang="hu-HU"/>
              <a:t> </a:t>
            </a:r>
            <a:r>
              <a:rPr lang="hu-HU" err="1"/>
              <a:t>real</a:t>
            </a:r>
            <a:r>
              <a:rPr lang="hu-HU"/>
              <a:t> </a:t>
            </a:r>
            <a:r>
              <a:rPr lang="hu-HU" err="1"/>
              <a:t>data</a:t>
            </a:r>
            <a:endParaRPr lang="hu-HU"/>
          </a:p>
          <a:p>
            <a:r>
              <a:rPr lang="hu-HU" err="1"/>
              <a:t>Uses</a:t>
            </a:r>
            <a:r>
              <a:rPr lang="hu-HU"/>
              <a:t> </a:t>
            </a:r>
            <a:r>
              <a:rPr lang="hu-HU" err="1"/>
              <a:t>proxies</a:t>
            </a:r>
            <a:r>
              <a:rPr lang="hu-HU"/>
              <a:t> </a:t>
            </a:r>
            <a:r>
              <a:rPr lang="hu-HU" err="1"/>
              <a:t>such</a:t>
            </a:r>
            <a:r>
              <a:rPr lang="hu-HU"/>
              <a:t> </a:t>
            </a:r>
            <a:r>
              <a:rPr lang="hu-HU" err="1"/>
              <a:t>as</a:t>
            </a:r>
            <a:r>
              <a:rPr lang="hu-HU"/>
              <a:t> </a:t>
            </a:r>
            <a:r>
              <a:rPr lang="hu-HU" err="1"/>
              <a:t>elasticity</a:t>
            </a:r>
            <a:r>
              <a:rPr lang="hu-HU"/>
              <a:t>, </a:t>
            </a:r>
            <a:r>
              <a:rPr lang="hu-HU" err="1"/>
              <a:t>availability</a:t>
            </a:r>
            <a:endParaRPr lang="hu-HU"/>
          </a:p>
          <a:p>
            <a:r>
              <a:rPr lang="hu-HU"/>
              <a:t>No </a:t>
            </a:r>
            <a:r>
              <a:rPr lang="hu-HU" err="1"/>
              <a:t>causal</a:t>
            </a:r>
            <a:r>
              <a:rPr lang="hu-HU"/>
              <a:t> </a:t>
            </a:r>
            <a:r>
              <a:rPr lang="hu-HU" err="1"/>
              <a:t>proof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68720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2A790-300D-84A4-380A-69745511B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76669D-02EC-8050-A040-F80EB463C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err="1"/>
              <a:t>COnclusion</a:t>
            </a:r>
            <a:endParaRPr lang="hu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9F9187-74FA-8F99-5E54-DAFD0BD3D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err="1"/>
              <a:t>Accurate</a:t>
            </a:r>
            <a:r>
              <a:rPr lang="hu-HU"/>
              <a:t> </a:t>
            </a:r>
            <a:r>
              <a:rPr lang="hu-HU" err="1"/>
              <a:t>price</a:t>
            </a:r>
            <a:r>
              <a:rPr lang="hu-HU"/>
              <a:t> </a:t>
            </a:r>
            <a:r>
              <a:rPr lang="hu-HU" err="1"/>
              <a:t>prediction</a:t>
            </a:r>
            <a:r>
              <a:rPr lang="hu-HU"/>
              <a:t> </a:t>
            </a:r>
            <a:r>
              <a:rPr lang="hu-HU" err="1"/>
              <a:t>achieved</a:t>
            </a:r>
            <a:endParaRPr lang="hu-HU"/>
          </a:p>
          <a:p>
            <a:r>
              <a:rPr lang="hu-HU" err="1"/>
              <a:t>Spatial</a:t>
            </a:r>
            <a:r>
              <a:rPr lang="hu-HU"/>
              <a:t> </a:t>
            </a:r>
            <a:r>
              <a:rPr lang="hu-HU" err="1"/>
              <a:t>modeling</a:t>
            </a:r>
            <a:r>
              <a:rPr lang="hu-HU"/>
              <a:t> </a:t>
            </a:r>
            <a:r>
              <a:rPr lang="hu-HU" err="1"/>
              <a:t>significantly</a:t>
            </a:r>
            <a:r>
              <a:rPr lang="hu-HU"/>
              <a:t> </a:t>
            </a:r>
            <a:r>
              <a:rPr lang="hu-HU" err="1"/>
              <a:t>improved</a:t>
            </a:r>
            <a:r>
              <a:rPr lang="hu-HU"/>
              <a:t> </a:t>
            </a:r>
            <a:r>
              <a:rPr lang="hu-HU" err="1"/>
              <a:t>results</a:t>
            </a:r>
            <a:endParaRPr lang="hu-HU"/>
          </a:p>
          <a:p>
            <a:r>
              <a:rPr lang="hu-HU" err="1"/>
              <a:t>Practical</a:t>
            </a:r>
            <a:r>
              <a:rPr lang="hu-HU"/>
              <a:t> </a:t>
            </a:r>
            <a:r>
              <a:rPr lang="hu-HU" err="1"/>
              <a:t>for</a:t>
            </a:r>
            <a:r>
              <a:rPr lang="hu-HU"/>
              <a:t> </a:t>
            </a:r>
            <a:r>
              <a:rPr lang="hu-HU" err="1"/>
              <a:t>identifying</a:t>
            </a:r>
            <a:r>
              <a:rPr lang="hu-HU"/>
              <a:t> </a:t>
            </a:r>
            <a:r>
              <a:rPr lang="hu-HU" err="1"/>
              <a:t>pricing</a:t>
            </a:r>
            <a:r>
              <a:rPr lang="hu-HU"/>
              <a:t> </a:t>
            </a:r>
            <a:r>
              <a:rPr lang="hu-HU" err="1"/>
              <a:t>inefficiencies</a:t>
            </a:r>
            <a:r>
              <a:rPr lang="hu-HU"/>
              <a:t> and </a:t>
            </a:r>
            <a:r>
              <a:rPr lang="hu-HU" err="1"/>
              <a:t>supports</a:t>
            </a:r>
            <a:r>
              <a:rPr lang="hu-HU"/>
              <a:t> </a:t>
            </a:r>
            <a:r>
              <a:rPr lang="hu-HU" err="1"/>
              <a:t>dynamic</a:t>
            </a:r>
            <a:r>
              <a:rPr lang="hu-HU"/>
              <a:t> </a:t>
            </a:r>
            <a:r>
              <a:rPr lang="hu-HU" err="1"/>
              <a:t>decisions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217613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833_TF33552983" id="{B3EE83EE-CCFB-4CB3-9AFB-F793C354D2BB}" vid="{A0A712A1-0E18-4ECB-AC9C-D8B615D25E24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{D1601376-FFFF-4879-A0C7-EFAB3FBAD73A}TF201209c3-d067-44f9-a26f-c8f216c443133f56370f_win32-6e0c0817a995</Template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DividendVTI</vt:lpstr>
      <vt:lpstr>Airbnb price optimization prediction</vt:lpstr>
      <vt:lpstr>The problem with the current system</vt:lpstr>
      <vt:lpstr>Dataset overview</vt:lpstr>
      <vt:lpstr>Data cleaning and pre-processing</vt:lpstr>
      <vt:lpstr>Feature engineering – why our model is strong</vt:lpstr>
      <vt:lpstr>H3 spatial logic</vt:lpstr>
      <vt:lpstr>Model development</vt:lpstr>
      <vt:lpstr>Model performance</vt:lpstr>
      <vt:lpstr>Key features driving price</vt:lpstr>
      <vt:lpstr>H3 pricing maps - barcelona</vt:lpstr>
      <vt:lpstr>H3 pricing maps – new york</vt:lpstr>
      <vt:lpstr>Revenue simulation</vt:lpstr>
      <vt:lpstr>Business insights</vt:lpstr>
      <vt:lpstr>limitations</vt:lpstr>
      <vt:lpstr>COnclusion</vt:lpstr>
    </vt:vector>
  </TitlesOfParts>
  <Company>Raiffeisen Bank Zrt.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Tóth Zsombor</dc:creator>
  <cp:revision>1</cp:revision>
  <dcterms:created xsi:type="dcterms:W3CDTF">2026-04-20T15:57:44Z</dcterms:created>
  <dcterms:modified xsi:type="dcterms:W3CDTF">2026-04-21T11:45:05Z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43e0687-f175-4b9c-b2f5-83c4b4db97be_Enabled">
    <vt:lpwstr>true</vt:lpwstr>
  </property>
  <property fmtid="{D5CDD505-2E9C-101B-9397-08002B2CF9AE}" pid="3" name="MSIP_Label_943e0687-f175-4b9c-b2f5-83c4b4db97be_SetDate">
    <vt:lpwstr>2026-04-20T16:16:05Z</vt:lpwstr>
  </property>
  <property fmtid="{D5CDD505-2E9C-101B-9397-08002B2CF9AE}" pid="4" name="MSIP_Label_943e0687-f175-4b9c-b2f5-83c4b4db97be_Method">
    <vt:lpwstr>Standard</vt:lpwstr>
  </property>
  <property fmtid="{D5CDD505-2E9C-101B-9397-08002B2CF9AE}" pid="5" name="MSIP_Label_943e0687-f175-4b9c-b2f5-83c4b4db97be_Name">
    <vt:lpwstr>General (visual mark)</vt:lpwstr>
  </property>
  <property fmtid="{D5CDD505-2E9C-101B-9397-08002B2CF9AE}" pid="6" name="MSIP_Label_943e0687-f175-4b9c-b2f5-83c4b4db97be_SiteId">
    <vt:lpwstr>9b511fda-f0b1-43a5-b06e-1e720f64520a</vt:lpwstr>
  </property>
  <property fmtid="{D5CDD505-2E9C-101B-9397-08002B2CF9AE}" pid="7" name="MSIP_Label_943e0687-f175-4b9c-b2f5-83c4b4db97be_ActionId">
    <vt:lpwstr>be14a66c-54c8-4b6b-818f-a35d9bc48ea8</vt:lpwstr>
  </property>
  <property fmtid="{D5CDD505-2E9C-101B-9397-08002B2CF9AE}" pid="8" name="MSIP_Label_943e0687-f175-4b9c-b2f5-83c4b4db97be_ContentBits">
    <vt:lpwstr>2</vt:lpwstr>
  </property>
  <property fmtid="{D5CDD505-2E9C-101B-9397-08002B2CF9AE}" pid="9" name="MSIP_Label_943e0687-f175-4b9c-b2f5-83c4b4db97be_Tag">
    <vt:lpwstr>10, 3, 0, 1</vt:lpwstr>
  </property>
  <property fmtid="{D5CDD505-2E9C-101B-9397-08002B2CF9AE}" pid="10" name="ClassificationContentMarkingFooterLocations">
    <vt:lpwstr>DividendVTI:8</vt:lpwstr>
  </property>
  <property fmtid="{D5CDD505-2E9C-101B-9397-08002B2CF9AE}" pid="11" name="ClassificationContentMarkingFooterText">
    <vt:lpwstr>Classification: GENERAL</vt:lpwstr>
  </property>
</Properties>
</file>